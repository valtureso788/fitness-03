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2" d="100"/>
          <a:sy n="92" d="100"/>
        </p:scale>
        <p:origin x="307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371600" y="1828800"/>
            <a:ext cx="91440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E5FF"/>
                </a:solidFill>
                <a:latin typeface="Times New Roman"/>
              </a:defRPr>
            </a:pPr>
            <a:r>
              <a:rPr dirty="0" err="1"/>
              <a:t>Сервис</a:t>
            </a:r>
            <a:r>
              <a:rPr dirty="0"/>
              <a:t> </a:t>
            </a:r>
            <a:r>
              <a:rPr dirty="0" err="1"/>
              <a:t>фитнес-клуба</a:t>
            </a:r>
            <a:r>
              <a:rPr dirty="0"/>
              <a:t> </a:t>
            </a:r>
            <a:endParaRPr lang="ru-RU" dirty="0"/>
          </a:p>
          <a:p>
            <a:pPr algn="ctr">
              <a:defRPr sz="4400" b="1">
                <a:solidFill>
                  <a:srgbClr val="00E5FF"/>
                </a:solidFill>
                <a:latin typeface="Times New Roman"/>
              </a:defRPr>
            </a:pPr>
            <a:r>
              <a:rPr dirty="0"/>
              <a:t>«</a:t>
            </a:r>
            <a:r>
              <a:rPr dirty="0" err="1"/>
              <a:t>FitClub</a:t>
            </a:r>
            <a:r>
              <a:rPr dirty="0"/>
              <a:t>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0A4AE"/>
                </a:solidFill>
                <a:latin typeface="Times New Roman"/>
              </a:defRPr>
            </a:pPr>
            <a:r>
              <a:rPr sz="2400" dirty="0" err="1"/>
              <a:t>Абонементы</a:t>
            </a:r>
            <a:r>
              <a:rPr sz="2400" dirty="0"/>
              <a:t>    </a:t>
            </a:r>
            <a:r>
              <a:rPr sz="2400" dirty="0" err="1"/>
              <a:t>Тренировки</a:t>
            </a:r>
            <a:r>
              <a:rPr sz="2400" dirty="0"/>
              <a:t>   </a:t>
            </a:r>
            <a:r>
              <a:rPr sz="2400" dirty="0" err="1"/>
              <a:t>Посещаемость</a:t>
            </a:r>
            <a:endParaRPr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4114800" y="4297680"/>
            <a:ext cx="4114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A4AE"/>
                </a:solidFill>
                <a:latin typeface="Times New Roman"/>
              </a:defRPr>
            </a:pPr>
            <a:r>
              <a:rPr dirty="0" err="1"/>
              <a:t>Выполнил</a:t>
            </a:r>
            <a:r>
              <a:rPr dirty="0"/>
              <a:t>:</a:t>
            </a:r>
            <a:r>
              <a:rPr lang="ru-RU" dirty="0"/>
              <a:t> Сухинин А. В.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FF"/>
                </a:solidFill>
                <a:latin typeface="Times New Roman"/>
              </a:defRPr>
            </a:pPr>
            <a:r>
              <a:t>Проблема и предметная область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5252"/>
                </a:solidFill>
                <a:latin typeface="Times New Roman"/>
              </a:defRPr>
            </a:pPr>
            <a:r>
              <a:rPr dirty="0" err="1"/>
              <a:t>Проблема</a:t>
            </a:r>
            <a:r>
              <a:rPr dirty="0"/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Запись по телефону или лично — очереди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Ручной учёт — ошибки и потеря данных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Нет информации об остатке занятий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Невозможность оперативных уведомлений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  <a:latin typeface="Times New Roman"/>
              </a:defRPr>
            </a:pPr>
            <a:r>
              <a:t>Решение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6675120" y="2468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Онлайн-запись в 1 клик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Автоматический учёт посещаемости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Отображение остатка занятий в ЛК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Уведомления и отчёты в реальном времени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252350"/>
              </p:ext>
            </p:extLst>
          </p:nvPr>
        </p:nvGraphicFramePr>
        <p:xfrm>
          <a:off x="548640" y="4846320"/>
          <a:ext cx="1106423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96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724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E5FF"/>
                          </a:solidFill>
                          <a:latin typeface="Times New Roman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Роль</a:t>
                      </a:r>
                    </a:p>
                  </a:txBody>
                  <a:tcPr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E5FF"/>
                          </a:solidFill>
                          <a:latin typeface="Times New Roman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Описание</a:t>
                      </a:r>
                    </a:p>
                  </a:txBody>
                  <a:tcPr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E5FF"/>
                          </a:solidFill>
                          <a:latin typeface="Times New Roman"/>
                        </a:defRPr>
                      </a:pPr>
                      <a:r>
                        <a:rPr dirty="0" err="1">
                          <a:solidFill>
                            <a:schemeClr val="bg1"/>
                          </a:solidFill>
                        </a:rPr>
                        <a:t>Ключевые</a:t>
                      </a:r>
                      <a:r>
                        <a:rPr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bg1"/>
                          </a:solidFill>
                        </a:rPr>
                        <a:t>потребности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E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Клиент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Посетитель клуба, 20–45 лет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Быстрая запись, остаток занятий, уведомления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Тренер</a:t>
                      </a:r>
                    </a:p>
                  </a:txBody>
                  <a:tcPr>
                    <a:solidFill>
                      <a:srgbClr val="10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Инструктор, 25–40 лет</a:t>
                      </a:r>
                    </a:p>
                  </a:txBody>
                  <a:tcPr>
                    <a:solidFill>
                      <a:srgbClr val="10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Электронная ведомость, список записавшихся</a:t>
                      </a:r>
                    </a:p>
                  </a:txBody>
                  <a:tcPr>
                    <a:solidFill>
                      <a:srgbClr val="10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Администратор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Менеджер клуба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 dirty="0" err="1">
                          <a:solidFill>
                            <a:schemeClr val="bg1"/>
                          </a:solidFill>
                        </a:rPr>
                        <a:t>Управление</a:t>
                      </a:r>
                      <a:r>
                        <a:rPr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bg1"/>
                          </a:solidFill>
                        </a:rPr>
                        <a:t>расписанием</a:t>
                      </a:r>
                      <a:r>
                        <a:rPr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dirty="0" err="1">
                          <a:solidFill>
                            <a:schemeClr val="bg1"/>
                          </a:solidFill>
                        </a:rPr>
                        <a:t>отчёты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14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FF"/>
                </a:solidFill>
                <a:latin typeface="Times New Roman"/>
              </a:defRPr>
            </a:pPr>
            <a:r>
              <a:t>Требования и проектные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5FF"/>
                </a:solidFill>
                <a:latin typeface="Times New Roman"/>
              </a:defRPr>
            </a:pPr>
            <a:r>
              <a:rPr dirty="0" err="1"/>
              <a:t>Ключевые</a:t>
            </a:r>
            <a:r>
              <a:rPr dirty="0"/>
              <a:t> </a:t>
            </a:r>
            <a:r>
              <a:rPr dirty="0" err="1"/>
              <a:t>требования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Авторизация по email/паролю с ролями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Просмотр расписания с индикацией мест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Запись/отмена записи на тренировку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Покупка и управление абонементами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Формирование отчётов для админа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Адаптивный, интуитивный интерфейс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5FF"/>
                </a:solidFill>
                <a:latin typeface="Times New Roman"/>
              </a:defRPr>
            </a:pPr>
            <a:r>
              <a:rPr dirty="0" err="1"/>
              <a:t>Технологический</a:t>
            </a:r>
            <a:r>
              <a:rPr dirty="0"/>
              <a:t> </a:t>
            </a:r>
            <a:r>
              <a:rPr dirty="0" err="1"/>
              <a:t>стек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6675120" y="2468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FF"/>
                </a:solidFill>
                <a:latin typeface="Times New Roman"/>
              </a:defRPr>
            </a:pPr>
            <a:r>
              <a:t>Frontend: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D8DC"/>
                </a:solidFill>
                <a:latin typeface="Times New Roman"/>
              </a:defRPr>
            </a:pPr>
            <a:r>
              <a:t>HTML5 + CSS3 + JavaScript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926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FF"/>
                </a:solidFill>
                <a:latin typeface="Times New Roman"/>
              </a:defRPr>
            </a:pPr>
            <a:r>
              <a:t>Архитектура: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926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D8DC"/>
                </a:solidFill>
                <a:latin typeface="Times New Roman"/>
              </a:defRPr>
            </a:pPr>
            <a:r>
              <a:t>SPA (Single Page App)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3832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FF"/>
                </a:solidFill>
                <a:latin typeface="Times New Roman"/>
              </a:defRPr>
            </a:pPr>
            <a:r>
              <a:t>Дизайн: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383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D8DC"/>
                </a:solidFill>
                <a:latin typeface="Times New Roman"/>
              </a:defRPr>
            </a:pPr>
            <a:r>
              <a:t>Dark Theme, Glassmorphism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40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FF"/>
                </a:solidFill>
                <a:latin typeface="Times New Roman"/>
              </a:defRPr>
            </a:pPr>
            <a:r>
              <a:t>Данные: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D8DC"/>
                </a:solidFill>
                <a:latin typeface="Times New Roman"/>
              </a:defRPr>
            </a:pPr>
            <a:r>
              <a:t>JavaScript in-memory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FF"/>
                </a:solidFill>
                <a:latin typeface="Times New Roman"/>
              </a:defRPr>
            </a:pPr>
            <a:r>
              <a:t>Контроль версий: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D8DC"/>
                </a:solidFill>
                <a:latin typeface="Times New Roman"/>
              </a:defRPr>
            </a:pPr>
            <a:r>
              <a:t>Git + 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754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FF"/>
                </a:solidFill>
                <a:latin typeface="Times New Roman"/>
              </a:defRPr>
            </a:pPr>
            <a:r>
              <a:t>Модель: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D8DC"/>
                </a:solidFill>
                <a:latin typeface="Times New Roman"/>
              </a:defRPr>
            </a:pPr>
            <a:r>
              <a:t>Каскадная (Waterfall)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0A4AE"/>
                </a:solidFill>
                <a:latin typeface="Times New Roman"/>
              </a:defRPr>
            </a:pPr>
            <a:r>
              <a:t>HTML5  ·  CSS3  ·  JavaScript ES6+  ·  Git  ·  GitHub  ·  Mermaid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FF"/>
                </a:solidFill>
                <a:latin typeface="Times New Roman"/>
              </a:defRPr>
            </a:pPr>
            <a:r>
              <a:t>Структура программной системы</a:t>
            </a:r>
          </a:p>
        </p:txBody>
      </p:sp>
      <p:pic>
        <p:nvPicPr>
          <p:cNvPr id="5" name="Picture 4" descr="architectur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0292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96596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A4AE"/>
                </a:solidFill>
                <a:latin typeface="Times New Roman"/>
              </a:defRPr>
            </a:pPr>
            <a:r>
              <a:rPr dirty="0"/>
              <a:t>7 </a:t>
            </a:r>
            <a:r>
              <a:rPr dirty="0" err="1"/>
              <a:t>классов</a:t>
            </a:r>
            <a:r>
              <a:rPr dirty="0"/>
              <a:t>   5 </a:t>
            </a:r>
            <a:r>
              <a:rPr dirty="0" err="1"/>
              <a:t>модулей</a:t>
            </a:r>
            <a:r>
              <a:rPr dirty="0"/>
              <a:t> 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2468880"/>
          <a:ext cx="51206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284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E5FF"/>
                          </a:solidFill>
                          <a:latin typeface="Times New Roman"/>
                        </a:defRPr>
                      </a:pPr>
                      <a:r>
                        <a:t>Модуль</a:t>
                      </a:r>
                    </a:p>
                  </a:txBody>
                  <a:tcPr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E5FF"/>
                          </a:solidFill>
                          <a:latin typeface="Times New Roman"/>
                        </a:defRPr>
                      </a:pPr>
                      <a:r>
                        <a:t>Назначение</a:t>
                      </a:r>
                    </a:p>
                  </a:txBody>
                  <a:tcPr>
                    <a:solidFill>
                      <a:srgbClr val="0E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Авторизация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Вход, проверка email/пароля/роли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Расписание</a:t>
                      </a:r>
                    </a:p>
                  </a:txBody>
                  <a:tcPr>
                    <a:solidFill>
                      <a:srgbClr val="10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Отображение и фильтрация тренировок</a:t>
                      </a:r>
                    </a:p>
                  </a:txBody>
                  <a:tcPr>
                    <a:solidFill>
                      <a:srgbClr val="10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Абонементы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Покупка, отображение остатка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Записи</a:t>
                      </a:r>
                    </a:p>
                  </a:txBody>
                  <a:tcPr>
                    <a:solidFill>
                      <a:srgbClr val="10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Бронирование, отмена, отметка явки</a:t>
                      </a:r>
                    </a:p>
                  </a:txBody>
                  <a:tcPr>
                    <a:solidFill>
                      <a:srgbClr val="10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Отчёты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Статистика посещаемости и продаж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FD8DC"/>
                </a:solidFill>
                <a:latin typeface="Times New Roman"/>
              </a:defRPr>
            </a:pPr>
            <a:r>
              <a:t>Классы: User → Client / Coach / Admin (наследование) · Subscription · Training · Booking    |    Интеграция: Bottom-Up (снизу вверх)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FF"/>
                </a:solidFill>
                <a:latin typeface="Times New Roman"/>
              </a:defRPr>
            </a:pPr>
            <a:r>
              <a:t>Реализация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E5FF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0A4AE"/>
                </a:solidFill>
                <a:latin typeface="Times New Roman"/>
              </a:defRPr>
            </a:pPr>
            <a:r>
              <a:t>Файла приложения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E5FF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0A4AE"/>
                </a:solidFill>
                <a:latin typeface="Times New Roman"/>
              </a:defRPr>
            </a:pPr>
            <a:r>
              <a:t>Модулей системы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9202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E5FF"/>
                </a:solidFill>
                <a:latin typeface="Times New Roman"/>
              </a:defRPr>
            </a:pPr>
            <a: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0A4AE"/>
                </a:solidFill>
                <a:latin typeface="Times New Roman"/>
              </a:defRPr>
            </a:pPr>
            <a:r>
              <a:t>Этапов практики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29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E5FF"/>
                </a:solidFill>
                <a:latin typeface="Times New Roman"/>
              </a:defRPr>
            </a:pPr>
            <a:r>
              <a:rPr dirty="0" err="1"/>
              <a:t>Структура</a:t>
            </a:r>
            <a:r>
              <a:rPr dirty="0"/>
              <a:t> </a:t>
            </a:r>
            <a:r>
              <a:rPr dirty="0" err="1"/>
              <a:t>проекта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914400" y="3931920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FF"/>
                </a:solidFill>
                <a:latin typeface="Times New Roman"/>
              </a:defRPr>
            </a:pPr>
            <a:r>
              <a:rPr sz="1600"/>
              <a:t>index.html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93192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D8DC"/>
                </a:solidFill>
                <a:latin typeface="Times New Roman"/>
              </a:defRPr>
            </a:pPr>
            <a:r>
              <a:rPr sz="1600"/>
              <a:t>Главная страница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43400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FF"/>
                </a:solidFill>
                <a:latin typeface="Times New Roman"/>
              </a:defRPr>
            </a:pPr>
            <a:r>
              <a:rPr sz="1600"/>
              <a:t>index.css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34340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D8DC"/>
                </a:solidFill>
                <a:latin typeface="Times New Roman"/>
              </a:defRPr>
            </a:pPr>
            <a:r>
              <a:rPr sz="1600" dirty="0" err="1"/>
              <a:t>Стили</a:t>
            </a:r>
            <a:r>
              <a:rPr sz="1600" dirty="0"/>
              <a:t>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FF"/>
                </a:solidFill>
                <a:latin typeface="Times New Roman"/>
              </a:defRPr>
            </a:pPr>
            <a:r>
              <a:rPr sz="1600"/>
              <a:t>app.js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75488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D8DC"/>
                </a:solidFill>
                <a:latin typeface="Times New Roman"/>
              </a:defRPr>
            </a:pPr>
            <a:r>
              <a:rPr sz="1600" dirty="0" err="1"/>
              <a:t>Логика</a:t>
            </a:r>
            <a:r>
              <a:rPr sz="1600" dirty="0"/>
              <a:t> </a:t>
            </a:r>
            <a:r>
              <a:rPr sz="1600" dirty="0" err="1"/>
              <a:t>приложения</a:t>
            </a:r>
            <a:r>
              <a:rPr sz="1600" dirty="0"/>
              <a:t>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FF"/>
                </a:solidFill>
                <a:latin typeface="Times New Roman"/>
              </a:defRPr>
            </a:pPr>
            <a:r>
              <a:rPr sz="1600"/>
              <a:t>data.js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16636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D8DC"/>
                </a:solidFill>
                <a:latin typeface="Times New Roman"/>
              </a:defRPr>
            </a:pPr>
            <a:r>
              <a:rPr sz="1600" dirty="0" err="1"/>
              <a:t>Данные</a:t>
            </a:r>
            <a:r>
              <a:rPr sz="1600" dirty="0"/>
              <a:t>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429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E5FF"/>
                </a:solidFill>
                <a:latin typeface="Times New Roman"/>
              </a:defRPr>
            </a:pPr>
            <a:r>
              <a:rPr dirty="0" err="1"/>
              <a:t>Особенности</a:t>
            </a:r>
            <a:endParaRPr dirty="0"/>
          </a:p>
        </p:txBody>
      </p:sp>
      <p:sp>
        <p:nvSpPr>
          <p:cNvPr id="26" name="TextBox 25"/>
          <p:cNvSpPr txBox="1"/>
          <p:nvPr/>
        </p:nvSpPr>
        <p:spPr>
          <a:xfrm>
            <a:off x="6675120" y="393192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D8DC"/>
                </a:solidFill>
                <a:latin typeface="Times New Roman"/>
              </a:defRPr>
            </a:pPr>
            <a:r>
              <a:rPr sz="1600"/>
              <a:t>▸  Dark Theme с эффектом стекла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34340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D8DC"/>
                </a:solidFill>
                <a:latin typeface="Times New Roman"/>
              </a:defRPr>
            </a:pPr>
            <a:r>
              <a:rPr sz="1600"/>
              <a:t>▸  Адаптивная вёрстка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75488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D8DC"/>
                </a:solidFill>
                <a:latin typeface="Times New Roman"/>
              </a:defRPr>
            </a:pPr>
            <a:r>
              <a:rPr sz="1600"/>
              <a:t>▸  Анимации переходов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16636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D8DC"/>
                </a:solidFill>
                <a:latin typeface="Times New Roman"/>
              </a:defRPr>
            </a:pPr>
            <a:r>
              <a:rPr sz="1600"/>
              <a:t>▸  Цветовая индикация заполненности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FF"/>
                </a:solidFill>
                <a:latin typeface="Times New Roman"/>
              </a:defRPr>
            </a:pPr>
            <a:r>
              <a:t>Проверка качества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FF"/>
                </a:solidFill>
                <a:latin typeface="Times New Roman"/>
              </a:defRPr>
            </a:pPr>
            <a: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0A4AE"/>
                </a:solidFill>
                <a:latin typeface="Times New Roman"/>
              </a:defRPr>
            </a:pPr>
            <a:r>
              <a:t>Тест-кейсов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7451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676"/>
                </a:solidFill>
                <a:latin typeface="Times New Roman"/>
              </a:defRPr>
            </a:pPr>
            <a: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77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0A4AE"/>
                </a:solidFill>
                <a:latin typeface="Times New Roman"/>
              </a:defRPr>
            </a:pPr>
            <a:r>
              <a:t>Пройдено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87451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FF"/>
                </a:solidFill>
                <a:latin typeface="Times New Roman"/>
              </a:defRPr>
            </a:pPr>
            <a: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377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0A4AE"/>
                </a:solidFill>
                <a:latin typeface="Times New Roman"/>
              </a:defRPr>
            </a:pPr>
            <a:r>
              <a:t>Критических ошибок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8554737"/>
              </p:ext>
            </p:extLst>
          </p:nvPr>
        </p:nvGraphicFramePr>
        <p:xfrm>
          <a:off x="548640" y="3108960"/>
          <a:ext cx="6858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E5FF"/>
                          </a:solidFill>
                          <a:latin typeface="Times New Roman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E5FF"/>
                          </a:solidFill>
                          <a:latin typeface="Times New Roman"/>
                        </a:defRPr>
                      </a:pPr>
                      <a:r>
                        <a:t>Тест</a:t>
                      </a:r>
                    </a:p>
                  </a:txBody>
                  <a:tcPr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E5FF"/>
                          </a:solidFill>
                          <a:latin typeface="Times New Roman"/>
                        </a:defRPr>
                      </a:pPr>
                      <a:r>
                        <a:rPr dirty="0" err="1"/>
                        <a:t>Статус</a:t>
                      </a:r>
                      <a:endParaRPr dirty="0"/>
                    </a:p>
                  </a:txBody>
                  <a:tcPr>
                    <a:solidFill>
                      <a:srgbClr val="0E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TC-01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Успешная авторизация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 dirty="0" err="1"/>
                        <a:t>Пройден</a:t>
                      </a:r>
                      <a:endParaRPr dirty="0"/>
                    </a:p>
                  </a:txBody>
                  <a:tcPr>
                    <a:solidFill>
                      <a:srgbClr val="14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TC-02</a:t>
                      </a:r>
                    </a:p>
                  </a:txBody>
                  <a:tcPr>
                    <a:solidFill>
                      <a:srgbClr val="10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Неверный пароль</a:t>
                      </a:r>
                    </a:p>
                  </a:txBody>
                  <a:tcPr>
                    <a:solidFill>
                      <a:srgbClr val="10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 dirty="0" err="1"/>
                        <a:t>Пройден</a:t>
                      </a:r>
                      <a:endParaRPr dirty="0"/>
                    </a:p>
                  </a:txBody>
                  <a:tcPr>
                    <a:solidFill>
                      <a:srgbClr val="10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TC-05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Успешная запись на тренировку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 dirty="0" err="1"/>
                        <a:t>Пройден</a:t>
                      </a:r>
                      <a:endParaRPr dirty="0"/>
                    </a:p>
                  </a:txBody>
                  <a:tcPr>
                    <a:solidFill>
                      <a:srgbClr val="14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TC-06</a:t>
                      </a:r>
                    </a:p>
                  </a:txBody>
                  <a:tcPr>
                    <a:solidFill>
                      <a:srgbClr val="10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Нет свободных мест — отказ</a:t>
                      </a:r>
                    </a:p>
                  </a:txBody>
                  <a:tcPr>
                    <a:solidFill>
                      <a:srgbClr val="10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 dirty="0" err="1"/>
                        <a:t>Пройден</a:t>
                      </a:r>
                      <a:endParaRPr dirty="0"/>
                    </a:p>
                  </a:txBody>
                  <a:tcPr>
                    <a:solidFill>
                      <a:srgbClr val="10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TC-10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Отмена записи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 dirty="0" err="1"/>
                        <a:t>Пройден</a:t>
                      </a:r>
                      <a:endParaRPr dirty="0"/>
                    </a:p>
                  </a:txBody>
                  <a:tcPr>
                    <a:solidFill>
                      <a:srgbClr val="14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TC-11</a:t>
                      </a:r>
                    </a:p>
                  </a:txBody>
                  <a:tcPr>
                    <a:solidFill>
                      <a:srgbClr val="10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Покупка абонемента</a:t>
                      </a:r>
                    </a:p>
                  </a:txBody>
                  <a:tcPr>
                    <a:solidFill>
                      <a:srgbClr val="10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 dirty="0" err="1"/>
                        <a:t>Пройден</a:t>
                      </a:r>
                      <a:endParaRPr dirty="0"/>
                    </a:p>
                  </a:txBody>
                  <a:tcPr>
                    <a:solidFill>
                      <a:srgbClr val="10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TC-12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t>Списание занятия</a:t>
                      </a:r>
                    </a:p>
                  </a:txBody>
                  <a:tcPr>
                    <a:solidFill>
                      <a:srgbClr val="14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FD8DC"/>
                          </a:solidFill>
                          <a:latin typeface="Times New Roman"/>
                        </a:defRPr>
                      </a:pPr>
                      <a:r>
                        <a:rPr dirty="0" err="1"/>
                        <a:t>Пройден</a:t>
                      </a:r>
                      <a:endParaRPr dirty="0"/>
                    </a:p>
                  </a:txBody>
                  <a:tcPr>
                    <a:solidFill>
                      <a:srgbClr val="14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955279" y="3246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5FF"/>
                </a:solidFill>
                <a:latin typeface="Times New Roman"/>
              </a:defRPr>
            </a:pPr>
            <a:r>
              <a:t>Виды тестирования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74903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Times New Roman"/>
              </a:defRPr>
            </a:pPr>
            <a:r>
              <a:t>Модульное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023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0A4AE"/>
                </a:solidFill>
                <a:latin typeface="Times New Roman"/>
              </a:defRPr>
            </a:pPr>
            <a:r>
              <a:t>Отдельные функции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389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Times New Roman"/>
              </a:defRPr>
            </a:pPr>
            <a:r>
              <a:t>Интеграционное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663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0A4AE"/>
                </a:solidFill>
                <a:latin typeface="Times New Roman"/>
              </a:defRPr>
            </a:pPr>
            <a:r>
              <a:t>Взаимодействие модулей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0292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Times New Roman"/>
              </a:defRPr>
            </a:pPr>
            <a:r>
              <a:t>UI-тестирование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53035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0A4AE"/>
                </a:solidFill>
                <a:latin typeface="Times New Roman"/>
              </a:defRPr>
            </a:pPr>
            <a:r>
              <a:t>Корректность интерфейса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566927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Times New Roman"/>
              </a:defRPr>
            </a:pPr>
            <a:r>
              <a:t>Регрессионное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5943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0A4AE"/>
                </a:solidFill>
                <a:latin typeface="Times New Roman"/>
              </a:defRPr>
            </a:pPr>
            <a:r>
              <a:t>Отсутствие новых ошибок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FF"/>
                </a:solidFill>
                <a:latin typeface="Times New Roman"/>
              </a:defRPr>
            </a:pPr>
            <a:r>
              <a:rPr dirty="0" err="1"/>
              <a:t>Демонстрация</a:t>
            </a:r>
            <a:endParaRPr dirty="0"/>
          </a:p>
        </p:txBody>
      </p:sp>
      <p:pic>
        <p:nvPicPr>
          <p:cNvPr id="6" name="Picture 5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89354"/>
            <a:ext cx="4160520" cy="22882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89120" y="25603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FF"/>
                </a:solidFill>
                <a:latin typeface="Times New Roman"/>
              </a:defRPr>
            </a:pPr>
            <a:r>
              <a:t>Экран авторизации</a:t>
            </a:r>
          </a:p>
        </p:txBody>
      </p:sp>
      <p:pic>
        <p:nvPicPr>
          <p:cNvPr id="9" name="Picture 8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433" y="1689354"/>
            <a:ext cx="4197925" cy="23088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231575" y="2481141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FF"/>
                </a:solidFill>
                <a:latin typeface="Times New Roman"/>
              </a:defRPr>
            </a:pPr>
            <a:r>
              <a:rPr dirty="0" err="1"/>
              <a:t>Личный</a:t>
            </a:r>
            <a:r>
              <a:rPr dirty="0"/>
              <a:t> </a:t>
            </a:r>
            <a:r>
              <a:rPr dirty="0" err="1"/>
              <a:t>кабинет</a:t>
            </a:r>
            <a:r>
              <a:rPr dirty="0"/>
              <a:t> </a:t>
            </a:r>
            <a:r>
              <a:rPr dirty="0" err="1"/>
              <a:t>клиента</a:t>
            </a:r>
            <a:endParaRPr dirty="0"/>
          </a:p>
        </p:txBody>
      </p:sp>
      <p:pic>
        <p:nvPicPr>
          <p:cNvPr id="12" name="Picture 11" descr="sched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4249674"/>
            <a:ext cx="4160520" cy="22882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89120" y="512064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FF"/>
                </a:solidFill>
                <a:latin typeface="Times New Roman"/>
              </a:defRPr>
            </a:pPr>
            <a:r>
              <a:t>Расписание тренировок</a:t>
            </a:r>
          </a:p>
        </p:txBody>
      </p:sp>
      <p:pic>
        <p:nvPicPr>
          <p:cNvPr id="15" name="Picture 14" descr="admin_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36" y="4249672"/>
            <a:ext cx="4160522" cy="228828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881358" y="5028057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FF"/>
                </a:solidFill>
                <a:latin typeface="Times New Roman"/>
              </a:defRPr>
            </a:pPr>
            <a:r>
              <a:rPr dirty="0" err="1"/>
              <a:t>Панель</a:t>
            </a:r>
            <a:r>
              <a:rPr dirty="0"/>
              <a:t> </a:t>
            </a:r>
            <a:r>
              <a:rPr dirty="0" err="1"/>
              <a:t>администратора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FF"/>
                </a:solidFill>
                <a:latin typeface="Times New Roman"/>
              </a:defRPr>
            </a:pPr>
            <a:r>
              <a:t>Итоги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00E5FF"/>
                </a:solidFill>
                <a:latin typeface="Times New Roman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0A4AE"/>
                </a:solidFill>
                <a:latin typeface="Times New Roman"/>
              </a:defRPr>
            </a:pPr>
            <a:r>
              <a:t>Этапов выполнено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7451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00E5FF"/>
                </a:solidFill>
                <a:latin typeface="Times New Roman"/>
              </a:defRPr>
            </a:pPr>
            <a: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23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0A4AE"/>
                </a:solidFill>
                <a:latin typeface="Times New Roman"/>
              </a:defRPr>
            </a:pPr>
            <a:r>
              <a:t>Тестов пройдено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87451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00E5FF"/>
                </a:solidFill>
                <a:latin typeface="Times New Roman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23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0A4AE"/>
                </a:solidFill>
                <a:latin typeface="Times New Roman"/>
              </a:defRPr>
            </a:pPr>
            <a:r>
              <a:t>Роли в системе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337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  <a:latin typeface="Times New Roman"/>
              </a:defRPr>
            </a:pPr>
            <a:r>
              <a:rPr dirty="0" err="1"/>
              <a:t>Выполнено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914400" y="3840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Веб-приложение для 3 ролей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51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12 этапов учебной практики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17 тест-кейсов (100%)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74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Полная документация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86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Код размещён на GitHub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337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4DFF"/>
                </a:solidFill>
                <a:latin typeface="Times New Roman"/>
              </a:defRPr>
            </a:pPr>
            <a:r>
              <a:rPr dirty="0" err="1"/>
              <a:t>Перспективы</a:t>
            </a:r>
            <a:endParaRPr dirty="0"/>
          </a:p>
        </p:txBody>
      </p:sp>
      <p:sp>
        <p:nvSpPr>
          <p:cNvPr id="23" name="TextBox 22"/>
          <p:cNvSpPr txBox="1"/>
          <p:nvPr/>
        </p:nvSpPr>
        <p:spPr>
          <a:xfrm>
            <a:off x="6675120" y="3840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Push-уведомления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251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Мобильное приложение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Интеграция с CRM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074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FD8DC"/>
                </a:solidFill>
                <a:latin typeface="Times New Roman"/>
              </a:defRPr>
            </a:pPr>
            <a:r>
              <a:t>▸  Онлайн-оплата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6309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0A4AE"/>
                </a:solidFill>
                <a:latin typeface="Times New Roman"/>
              </a:defRPr>
            </a:pPr>
            <a: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434</Words>
  <Application>Microsoft Office PowerPoint</Application>
  <PresentationFormat>Широкоэкранный</PresentationFormat>
  <Paragraphs>149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Windows</cp:lastModifiedBy>
  <cp:revision>5</cp:revision>
  <dcterms:created xsi:type="dcterms:W3CDTF">2013-01-27T09:14:16Z</dcterms:created>
  <dcterms:modified xsi:type="dcterms:W3CDTF">2026-05-03T10:38:33Z</dcterms:modified>
  <cp:category/>
</cp:coreProperties>
</file>